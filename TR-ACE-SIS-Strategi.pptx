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</a:t>
            </a:r>
            <a:pPr indent="0" marL="0">
              <a:buNone/>
            </a:pPr>
            <a:r>
              <a:rPr lang="en-US" sz="600" spc="2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 SURPRISE SYSTEMS  /  TR/ACE  —  SIS          </a:t>
            </a:r>
            <a:pPr indent="0" marL="0">
              <a:buNone/>
            </a:pPr>
            <a:r>
              <a:rPr lang="en-US" sz="600" spc="2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412480" y="182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TR/ACE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Screening-LCA för svenska SME-tillverkare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Ett samarbete mellan SIS och Surprise Systems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Mars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</a:t>
            </a:r>
            <a:pPr indent="0" marL="0">
              <a:buNone/>
            </a:pPr>
            <a:r>
              <a:rPr lang="en-US" sz="600" spc="20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 SURPRISE SYSTEMS  /  TR/ACE  —  SIS          </a:t>
            </a:r>
            <a:pPr indent="0" marL="0">
              <a:buNone/>
            </a:pPr>
            <a:r>
              <a:rPr lang="en-US" sz="600" spc="20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412480" y="182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731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 miljödeklaration kostar 200 000 kr och tar 6 veckor via konsult. Det utestänger 99% av Sveriges tillverkare.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0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4904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Tidsbrist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2331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SME-ägare har inte 6 veckor att vänta på en rapport. Affären är borta imorgon.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3017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Komplexitet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49040" y="3337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ISO 14040, scope 1/2/3, funktionella enheter — språk som ingen utanför standardiseringsvärlden förstår.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0" y="4023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4904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Kostnad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9040" y="43434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200 000 kr per produkt. Omöjligt att räkna hem för ett företag med 15 anställda och 3 produkter.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</a:t>
            </a:r>
            <a:pPr indent="0" marL="0">
              <a:buNone/>
            </a:pPr>
            <a:r>
              <a:rPr lang="en-US" sz="600" spc="2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 SURPRISE SYSTEMS  /  TR/ACE  —  SIS          </a:t>
            </a:r>
            <a:pPr indent="0" marL="0">
              <a:buNone/>
            </a:pPr>
            <a:r>
              <a:rPr lang="en-US" sz="600" spc="2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412480" y="182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1097280" y="1097280"/>
            <a:ext cx="685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Vad händer om vilken tillverkare som helst kunde få sin miljödeklaration — på 10 minuter?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</a:t>
            </a:r>
            <a:pPr indent="0" marL="0">
              <a:buNone/>
            </a:pPr>
            <a:r>
              <a:rPr lang="en-US" sz="600" spc="20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 SURPRISE SYSTEMS  /  TR/ACE  —  SIS          </a:t>
            </a:r>
            <a:pPr indent="0" marL="0">
              <a:buNone/>
            </a:pPr>
            <a:r>
              <a:rPr lang="en-US" sz="600" spc="20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412480" y="182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Lösningen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731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TR/ACE digitaliserar screening-LCA enligt ISO 14040-metodiken. 6 steg, förifyllda branschmallar, resultat direkt.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1828800"/>
            <a:ext cx="320040" cy="3200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1188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Företagsprofil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11880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Namn, bransch, ort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166360" y="1828800"/>
            <a:ext cx="320040" cy="3200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16636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Välj produkt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branschmallar med förfyllda värden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32320" y="1828800"/>
            <a:ext cx="320040" cy="3200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4380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Material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543800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Vikt eller spend-baserad input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3291840"/>
            <a:ext cx="320040" cy="3200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11880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Tillverkning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11880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Energi med branschstandard som default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166360" y="3291840"/>
            <a:ext cx="320040" cy="3200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Varifrån och vart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32320" y="3291840"/>
            <a:ext cx="320040" cy="3200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43800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Resultat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43800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indikatorer, scope-donut, benchmark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</a:t>
            </a:r>
            <a:pPr indent="0" marL="0">
              <a:buNone/>
            </a:pPr>
            <a:r>
              <a:rPr lang="en-US" sz="600" spc="20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 SURPRISE SYSTEMS  /  TR/ACE  —  SIS          </a:t>
            </a:r>
            <a:pPr indent="0" marL="0">
              <a:buNone/>
            </a:pPr>
            <a:r>
              <a:rPr lang="en-US" sz="600" spc="20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412480" y="182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Vad företaget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får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731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miljöindikatorer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0515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CO₂e, vatten, energi, markanvändning, försurning, övergödning, biodiversitet, cirkularitet. Beräknade med Climatiq/DEFRA/ecoinvent.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Scope 1/2/3-visualisering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2011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Tydlig donut som visar var utsläppen kommer ifrån — intern tillverkning, energi, material och transport.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Branschjämförelse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2971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Direkt jämförelse mot branschsnitt och bäst i klassen. Företaget ser omedelbart var de står.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0" y="3611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Hållbarhetsbevis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3931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Delbart certifikat med QR-kod och verifierings-ID. Kan bifogas anbud, läggas på hemsida, delas på LinkedIn.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</a:t>
            </a:r>
            <a:pPr indent="0" marL="0">
              <a:buNone/>
            </a:pPr>
            <a:r>
              <a:rPr lang="en-US" sz="600" spc="20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 SURPRISE SYSTEMS  /  TR/ACE  —  SIS          </a:t>
            </a:r>
            <a:pPr indent="0" marL="0">
              <a:buNone/>
            </a:pPr>
            <a:r>
              <a:rPr lang="en-US" sz="600" spc="20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412480" y="182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Business case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822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Utan TR/ACE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234440"/>
            <a:ext cx="256032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4173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200 000 kr</a:t>
            </a:r>
            <a:endParaRPr lang="en-US" sz="2800" dirty="0"/>
          </a:p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 produkt</a:t>
            </a:r>
            <a:endParaRPr lang="en-US" sz="2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28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veckors ledtid</a:t>
            </a:r>
            <a:endParaRPr lang="en-US" sz="28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produkt per år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035040" y="822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 TR/ACE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234440"/>
            <a:ext cx="2560320" cy="2560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4173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24 000 kr</a:t>
            </a:r>
            <a:endParaRPr lang="en-US" sz="28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 år (obegränsat antal produkter)</a:t>
            </a:r>
            <a:endParaRPr lang="en-US" sz="2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28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minuters ledtid</a:t>
            </a:r>
            <a:endParaRPr lang="en-US" sz="28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Obegränsat antal produkter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0" y="39319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176 000 kr besparing per år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ökad konkurrenskraft vid offentlig upphandling, storföretags leverantörskrav och CSRD-beredskap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</a:t>
            </a:r>
            <a:pPr indent="0" marL="0">
              <a:buNone/>
            </a:pPr>
            <a:r>
              <a:rPr lang="en-US" sz="600" spc="20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 SURPRISE SYSTEMS  /  TR/ACE  —  SIS          </a:t>
            </a:r>
            <a:pPr indent="0" marL="0">
              <a:buNone/>
            </a:pPr>
            <a:r>
              <a:rPr lang="en-US" sz="600" spc="20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412480" y="182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828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VARFÖR SIS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</a:t>
            </a:r>
            <a:pPr indent="0" marL="0">
              <a:buNone/>
            </a:pPr>
            <a:r>
              <a:rPr lang="en-US" sz="600" spc="20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 SURPRISE SYSTEMS  /  TR/ACE  —  SIS          </a:t>
            </a:r>
            <a:pPr indent="0" marL="0">
              <a:buNone/>
            </a:pPr>
            <a:r>
              <a:rPr lang="en-US" sz="600" spc="20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412480" y="182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Koppling till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 SME-arbetet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731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TR/ACE adresserar direkt de utmaningar CEN/CENELEC AG SME identifierar.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371600"/>
            <a:ext cx="36576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371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Business cases efterfrågas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76072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Inbyggd ROI-kalkylator, tre nivåer av affärsargument i resultatet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938528"/>
            <a:ext cx="36576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938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Tidsbrist och komplexitet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760720" y="19385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Wizard med förifyllda branschmallar — 10 min istället för 6 veckor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2505456"/>
            <a:ext cx="36576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5054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Avgifter hindrar deltagande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760720" y="250545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Freemium-modell: första produkten gratis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3072384"/>
            <a:ext cx="36576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30723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Guide 17-piloter ej genomförda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760720" y="307238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TR/ACE kan bli den svenska piloten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3639312"/>
            <a:ext cx="36576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36393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Online-deltagande viktigt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60720" y="36393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Helt digitalt — ingen fysisk workshop krävs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4206240"/>
            <a:ext cx="36576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Action plan behövs (april)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6072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SME Engagement Strategy redo som SIS-bidrag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</a:t>
            </a:r>
            <a:pPr indent="0" marL="0">
              <a:buNone/>
            </a:pPr>
            <a:r>
              <a:rPr lang="en-US" sz="600" spc="20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 SURPRISE SYSTEMS  /  TR/ACE  —  SIS          </a:t>
            </a:r>
            <a:pPr indent="0" marL="0">
              <a:buNone/>
            </a:pPr>
            <a:r>
              <a:rPr lang="en-US" sz="600" spc="200" kern="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412480" y="182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Två spår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framåt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777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SPÅR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Noll till Nytta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417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Enkel väg in + omedelbart synligt affärsvärde. Rätt språk, branschmallar, förifyllda värden, ROI i resultatet, delbart hållbarhetsbevis.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999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SPÅR 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Mötesplats SME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28346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Kanal- och nätverksstrategi. Branschorganisationer (TMF, Livsmedelsföretagen, Teknikföretagen), freemium-modell, Meeting Standards nov 2026.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3749040"/>
            <a:ext cx="50292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45536" y="3685032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3840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APR 2026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743200" y="4069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Action plan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till PC-mötet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818888" y="3685032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4416552" y="3840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MAJ-SEP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416552" y="4069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Piloter med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branschorg.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492240" y="3685032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089904" y="3840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 2026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089904" y="4069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Meeting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Standards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174736" y="3685032"/>
            <a:ext cx="109728" cy="10972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3840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Q1 2027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772400" y="4069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Bred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7777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lansering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</a:t>
            </a:r>
            <a:pPr indent="0" marL="0">
              <a:buNone/>
            </a:pPr>
            <a:r>
              <a:rPr lang="en-US" sz="600" spc="2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 SURPRISE SYSTEMS  /  TR/ACE  —  SIS          </a:t>
            </a:r>
            <a:pPr indent="0" marL="0">
              <a:buNone/>
            </a:pPr>
            <a:r>
              <a:rPr lang="en-US" sz="600" spc="2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412480" y="182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 vill gärna</a:t>
            </a:r>
            <a:endParaRPr lang="en-US" sz="4200" dirty="0"/>
          </a:p>
          <a:p>
            <a:pPr indent="0" marL="0">
              <a:buNone/>
            </a:pPr>
            <a:r>
              <a:rPr lang="en-US" sz="4200" b="1" i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höra dina tankar.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David Borg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david@surpriseventures.io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Surprise Systems AB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Copyright © 2026 Surprise Systems AB. All rights reserved.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TR/ACE — Screening-LCA för svenska SME</dc:title>
  <dc:subject>PptxGenJS Presentation</dc:subject>
  <dc:creator>Surprise Systems</dc:creator>
  <cp:lastModifiedBy>Surprise Systems</cp:lastModifiedBy>
  <cp:revision>1</cp:revision>
  <dcterms:created xsi:type="dcterms:W3CDTF">2026-03-05T17:16:23Z</dcterms:created>
  <dcterms:modified xsi:type="dcterms:W3CDTF">2026-03-05T17:16:23Z</dcterms:modified>
</cp:coreProperties>
</file>