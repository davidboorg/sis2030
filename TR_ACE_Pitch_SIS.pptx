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08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32735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9144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F3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INVESTERINGSÄSKANDE  —  FEBRUARI 2026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</a:t>
            </a:r>
            <a:pPr indent="0" marL="0">
              <a:buNone/>
            </a:pPr>
            <a:r>
              <a:rPr lang="en-US" sz="5200" i="1" dirty="0">
                <a:solidFill>
                  <a:srgbClr val="F327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/</a:t>
            </a:r>
            <a:pPr indent="0" marL="0">
              <a:buNone/>
            </a:pPr>
            <a:r>
              <a:rPr lang="en-US" sz="5200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ACE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731520" y="228600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Screening-LCA som gör ISO-standarder</a:t>
            </a:r>
            <a:endParaRPr lang="en-US" sz="2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användbara för svenska tillverkare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3291840"/>
            <a:ext cx="1828800" cy="18288"/>
          </a:xfrm>
          <a:prstGeom prst="rect">
            <a:avLst/>
          </a:prstGeom>
          <a:solidFill>
            <a:srgbClr val="272727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3566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Surprise Systems  ×  Svenska institutet för standarder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39319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Konfidentiellt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943600" y="320040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000" dirty="0">
                <a:solidFill>
                  <a:srgbClr val="F327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Mkr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5943600" y="40233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investering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10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808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32735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F3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PROBLEMET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82296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800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Svenska SME:er förlorar affärer</a:t>
            </a:r>
            <a:endParaRPr lang="en-US" sz="2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800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för att de saknar miljödata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31520" y="2103120"/>
            <a:ext cx="2468880" cy="22860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2103120"/>
            <a:ext cx="2468880" cy="36576"/>
          </a:xfrm>
          <a:prstGeom prst="rect">
            <a:avLst/>
          </a:prstGeom>
          <a:solidFill>
            <a:srgbClr val="F32735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331720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27432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847 Mkr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914400" y="320040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Förlorad omsättning i offentliga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upphandlingar p.g.a. saknad miljödata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383280" y="2103120"/>
            <a:ext cx="2468880" cy="22860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1" name="Shape 8"/>
          <p:cNvSpPr/>
          <p:nvPr/>
        </p:nvSpPr>
        <p:spPr>
          <a:xfrm>
            <a:off x="3383280" y="2103120"/>
            <a:ext cx="2468880" cy="36576"/>
          </a:xfrm>
          <a:prstGeom prst="rect">
            <a:avLst/>
          </a:prstGeom>
          <a:solidFill>
            <a:srgbClr val="F32735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0" y="2331720"/>
            <a:ext cx="274320" cy="2743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566160" y="27432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68%</a:t>
            </a:r>
            <a:endParaRPr lang="en-US" sz="2600" dirty="0"/>
          </a:p>
        </p:txBody>
      </p:sp>
      <p:sp>
        <p:nvSpPr>
          <p:cNvPr id="14" name="Text 10"/>
          <p:cNvSpPr/>
          <p:nvPr/>
        </p:nvSpPr>
        <p:spPr>
          <a:xfrm>
            <a:off x="3566160" y="320040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 inköpare kräver nu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miljödeklaration i offertförfrågan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6035040" y="2103120"/>
            <a:ext cx="2468880" cy="22860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6" name="Shape 12"/>
          <p:cNvSpPr/>
          <p:nvPr/>
        </p:nvSpPr>
        <p:spPr>
          <a:xfrm>
            <a:off x="6035040" y="2103120"/>
            <a:ext cx="2468880" cy="36576"/>
          </a:xfrm>
          <a:prstGeom prst="rect">
            <a:avLst/>
          </a:prstGeom>
          <a:solidFill>
            <a:srgbClr val="F32735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2331720"/>
            <a:ext cx="274320" cy="2743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217920" y="27432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200 000 kr</a:t>
            </a:r>
            <a:endParaRPr lang="en-US" sz="2600" dirty="0"/>
          </a:p>
        </p:txBody>
      </p:sp>
      <p:sp>
        <p:nvSpPr>
          <p:cNvPr id="19" name="Text 14"/>
          <p:cNvSpPr/>
          <p:nvPr/>
        </p:nvSpPr>
        <p:spPr>
          <a:xfrm>
            <a:off x="6217920" y="320040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kostar en traditionell LCA.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Ledtid: 6 veckor.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21" name="Text 16"/>
          <p:cNvSpPr/>
          <p:nvPr/>
        </p:nvSpPr>
        <p:spPr>
          <a:xfrm>
            <a:off x="457200" y="4846320"/>
            <a:ext cx="45720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</a:t>
            </a:r>
            <a:pPr indent="0" marL="0">
              <a:buNone/>
            </a:pPr>
            <a:r>
              <a:rPr lang="en-US" sz="800" i="1" dirty="0">
                <a:solidFill>
                  <a:srgbClr val="F3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</a:t>
            </a:r>
            <a:pPr indent="0" marL="0">
              <a:buNone/>
            </a:pPr>
            <a:r>
              <a:rPr lang="en-US" sz="8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</a:t>
            </a:r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Surprise Systems × SIS</a:t>
            </a:r>
            <a:endParaRPr lang="en-US" sz="800" dirty="0"/>
          </a:p>
        </p:txBody>
      </p:sp>
      <p:sp>
        <p:nvSpPr>
          <p:cNvPr id="22" name="Text 17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10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08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32735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F3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LÖSNINGEN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82296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800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Miljödeklaration på minuter,</a:t>
            </a:r>
            <a:endParaRPr lang="en-US" sz="2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800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 månader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31520" y="2011680"/>
            <a:ext cx="3657600" cy="256032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1945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UTAN TR/ACE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14400" y="26060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LCA-konsult: 200 000 kr/produkt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30175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Ledtid: 6 veckor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34290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produkt per år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38404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Årskostnad: 200 000+ kr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54880" y="2011680"/>
            <a:ext cx="3657600" cy="256032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2" name="Shape 10"/>
          <p:cNvSpPr/>
          <p:nvPr/>
        </p:nvSpPr>
        <p:spPr>
          <a:xfrm>
            <a:off x="4754880" y="2011680"/>
            <a:ext cx="3657600" cy="36576"/>
          </a:xfrm>
          <a:prstGeom prst="rect">
            <a:avLst/>
          </a:prstGeom>
          <a:solidFill>
            <a:srgbClr val="7EE8A2"/>
          </a:solidFill>
          <a:ln/>
        </p:spPr>
      </p:sp>
      <p:sp>
        <p:nvSpPr>
          <p:cNvPr id="13" name="Text 11"/>
          <p:cNvSpPr/>
          <p:nvPr/>
        </p:nvSpPr>
        <p:spPr>
          <a:xfrm>
            <a:off x="4937760" y="21945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7EE8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 TR/ACE</a:t>
            </a:r>
            <a:endParaRPr lang="en-US" sz="900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0" y="2633472"/>
            <a:ext cx="182880" cy="18288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5257800" y="26060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Licens: 2 000 kr/månad</a:t>
            </a:r>
            <a:endParaRPr lang="en-US" sz="1200" dirty="0"/>
          </a:p>
        </p:txBody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3044952"/>
            <a:ext cx="182880" cy="18288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5257800" y="30175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Ledtid: 10 minuter</a:t>
            </a:r>
            <a:endParaRPr lang="en-US" sz="1200" dirty="0"/>
          </a:p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0" y="3456432"/>
            <a:ext cx="182880" cy="18288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5257800" y="34290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Obegränsat antal produkter</a:t>
            </a:r>
            <a:endParaRPr lang="en-US" sz="1200" dirty="0"/>
          </a:p>
        </p:txBody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3867912"/>
            <a:ext cx="182880" cy="18288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5257800" y="38404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Besparing: 176 000 kr/år</a:t>
            </a:r>
            <a:endParaRPr lang="en-US" sz="1200" dirty="0"/>
          </a:p>
        </p:txBody>
      </p:sp>
      <p:sp>
        <p:nvSpPr>
          <p:cNvPr id="22" name="Shape 16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23" name="Text 17"/>
          <p:cNvSpPr/>
          <p:nvPr/>
        </p:nvSpPr>
        <p:spPr>
          <a:xfrm>
            <a:off x="457200" y="4846320"/>
            <a:ext cx="45720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</a:t>
            </a:r>
            <a:pPr indent="0" marL="0">
              <a:buNone/>
            </a:pPr>
            <a:r>
              <a:rPr lang="en-US" sz="800" i="1" dirty="0">
                <a:solidFill>
                  <a:srgbClr val="F3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</a:t>
            </a:r>
            <a:pPr indent="0" marL="0">
              <a:buNone/>
            </a:pPr>
            <a:r>
              <a:rPr lang="en-US" sz="8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</a:t>
            </a:r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Surprise Systems × SIS</a:t>
            </a:r>
            <a:endParaRPr lang="en-US" sz="800" dirty="0"/>
          </a:p>
        </p:txBody>
      </p:sp>
      <p:sp>
        <p:nvSpPr>
          <p:cNvPr id="24" name="Text 18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10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08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32735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F3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VAD VI BYGGT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8229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Prototyp klar — 200 000 kr investerade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731520" y="1645920"/>
            <a:ext cx="2468880" cy="1325880"/>
          </a:xfrm>
          <a:prstGeom prst="rect">
            <a:avLst/>
          </a:prstGeom>
          <a:solidFill>
            <a:srgbClr val="1A1A1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783080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80160" y="17830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miljöindikatorer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914400" y="214884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14040-serien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Inkl. biodiversitet + cirkularitet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3383280" y="1645920"/>
            <a:ext cx="2468880" cy="1325880"/>
          </a:xfrm>
          <a:prstGeom prst="rect">
            <a:avLst/>
          </a:prstGeom>
          <a:solidFill>
            <a:srgbClr val="1A1A1A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0" y="1783080"/>
            <a:ext cx="256032" cy="25603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931920" y="17830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AI-assisterad BOM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3566160" y="214884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Klistra in materialdata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matchar mot Climatiq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6035040" y="1645920"/>
            <a:ext cx="2468880" cy="1325880"/>
          </a:xfrm>
          <a:prstGeom prst="rect">
            <a:avLst/>
          </a:prstGeom>
          <a:solidFill>
            <a:srgbClr val="1A1A1A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783080"/>
            <a:ext cx="256032" cy="25603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583680" y="17830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branschmallar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6217920" y="214884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Möbel, livsmedel, verkstad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Förifylla + anpassa</a:t>
            </a:r>
            <a:endParaRPr lang="en-US" sz="900" dirty="0"/>
          </a:p>
        </p:txBody>
      </p:sp>
      <p:sp>
        <p:nvSpPr>
          <p:cNvPr id="17" name="Shape 12"/>
          <p:cNvSpPr/>
          <p:nvPr/>
        </p:nvSpPr>
        <p:spPr>
          <a:xfrm>
            <a:off x="731520" y="3154680"/>
            <a:ext cx="2468880" cy="1325880"/>
          </a:xfrm>
          <a:prstGeom prst="rect">
            <a:avLst/>
          </a:prstGeom>
          <a:solidFill>
            <a:srgbClr val="1A1A1A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3291840"/>
            <a:ext cx="256032" cy="256032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280160" y="32918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Hållbarhetsbevis</a:t>
            </a:r>
            <a:endParaRPr lang="en-US" sz="1200" dirty="0"/>
          </a:p>
        </p:txBody>
      </p:sp>
      <p:sp>
        <p:nvSpPr>
          <p:cNvPr id="20" name="Text 14"/>
          <p:cNvSpPr/>
          <p:nvPr/>
        </p:nvSpPr>
        <p:spPr>
          <a:xfrm>
            <a:off x="914400" y="365760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SVG-badge + certifikatsida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QR-kod, delbar, OG-tags</a:t>
            </a:r>
            <a:endParaRPr lang="en-US" sz="900" dirty="0"/>
          </a:p>
        </p:txBody>
      </p:sp>
      <p:sp>
        <p:nvSpPr>
          <p:cNvPr id="21" name="Shape 15"/>
          <p:cNvSpPr/>
          <p:nvPr/>
        </p:nvSpPr>
        <p:spPr>
          <a:xfrm>
            <a:off x="3383280" y="3154680"/>
            <a:ext cx="2468880" cy="1325880"/>
          </a:xfrm>
          <a:prstGeom prst="rect">
            <a:avLst/>
          </a:prstGeom>
          <a:solidFill>
            <a:srgbClr val="1A1A1A"/>
          </a:solidFill>
          <a:ln/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66160" y="3291840"/>
            <a:ext cx="256032" cy="256032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3931920" y="32918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utan konto</a:t>
            </a:r>
            <a:endParaRPr lang="en-US" sz="1200" dirty="0"/>
          </a:p>
        </p:txBody>
      </p:sp>
      <p:sp>
        <p:nvSpPr>
          <p:cNvPr id="24" name="Text 17"/>
          <p:cNvSpPr/>
          <p:nvPr/>
        </p:nvSpPr>
        <p:spPr>
          <a:xfrm>
            <a:off x="3566160" y="365760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ROI-kalkylator + resultat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på 10 sekunder</a:t>
            </a:r>
            <a:endParaRPr lang="en-US" sz="900" dirty="0"/>
          </a:p>
        </p:txBody>
      </p:sp>
      <p:sp>
        <p:nvSpPr>
          <p:cNvPr id="25" name="Shape 18"/>
          <p:cNvSpPr/>
          <p:nvPr/>
        </p:nvSpPr>
        <p:spPr>
          <a:xfrm>
            <a:off x="6035040" y="3154680"/>
            <a:ext cx="2468880" cy="1325880"/>
          </a:xfrm>
          <a:prstGeom prst="rect">
            <a:avLst/>
          </a:prstGeom>
          <a:solidFill>
            <a:srgbClr val="1A1A1A"/>
          </a:solidFill>
          <a:ln/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7920" y="3291840"/>
            <a:ext cx="256032" cy="256032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6583680" y="32918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ISO-kompatibelt</a:t>
            </a:r>
            <a:endParaRPr lang="en-US" sz="1200" dirty="0"/>
          </a:p>
        </p:txBody>
      </p:sp>
      <p:sp>
        <p:nvSpPr>
          <p:cNvPr id="28" name="Text 20"/>
          <p:cNvSpPr/>
          <p:nvPr/>
        </p:nvSpPr>
        <p:spPr>
          <a:xfrm>
            <a:off x="6217920" y="365760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14040, 14067, 14046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14055, 59004</a:t>
            </a:r>
            <a:endParaRPr lang="en-US" sz="900" dirty="0"/>
          </a:p>
        </p:txBody>
      </p:sp>
      <p:sp>
        <p:nvSpPr>
          <p:cNvPr id="29" name="Shape 21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30" name="Text 22"/>
          <p:cNvSpPr/>
          <p:nvPr/>
        </p:nvSpPr>
        <p:spPr>
          <a:xfrm>
            <a:off x="457200" y="4846320"/>
            <a:ext cx="45720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</a:t>
            </a:r>
            <a:pPr indent="0" marL="0">
              <a:buNone/>
            </a:pPr>
            <a:r>
              <a:rPr lang="en-US" sz="800" i="1" dirty="0">
                <a:solidFill>
                  <a:srgbClr val="F3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</a:t>
            </a:r>
            <a:pPr indent="0" marL="0">
              <a:buNone/>
            </a:pPr>
            <a:r>
              <a:rPr lang="en-US" sz="8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</a:t>
            </a:r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Surprise Systems × SIS</a:t>
            </a:r>
            <a:endParaRPr lang="en-US" sz="800" dirty="0"/>
          </a:p>
        </p:txBody>
      </p:sp>
      <p:sp>
        <p:nvSpPr>
          <p:cNvPr id="31" name="Text 23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10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08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32735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F3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VARFÖR SIS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82296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800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TR/ACE gör SIS relevant</a:t>
            </a:r>
            <a:endParaRPr lang="en-US" sz="2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800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för 97% av era medlemmar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31520" y="20116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E8D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 UTMANING IDAG</a:t>
            </a:r>
            <a:endParaRPr lang="en-US" sz="9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423160"/>
            <a:ext cx="164592" cy="16459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34440" y="23774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97% av SFS medlemmar är SME</a:t>
            </a:r>
            <a:endParaRPr lang="en-US" sz="11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834640"/>
            <a:ext cx="164592" cy="16459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34440" y="27889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Nästan inga SME i TK:erna</a:t>
            </a:r>
            <a:endParaRPr lang="en-US" sz="11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246120"/>
            <a:ext cx="164592" cy="16459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234440" y="32004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 17-piloter ej genomförda</a:t>
            </a:r>
            <a:endParaRPr lang="en-US" sz="11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3657600"/>
            <a:ext cx="164592" cy="164592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234440" y="36118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CEN/CENELEC kräver action plan (april)</a:t>
            </a:r>
            <a:endParaRPr lang="en-US" sz="1100" dirty="0"/>
          </a:p>
        </p:txBody>
      </p:sp>
      <p:sp>
        <p:nvSpPr>
          <p:cNvPr id="14" name="Text 8"/>
          <p:cNvSpPr/>
          <p:nvPr/>
        </p:nvSpPr>
        <p:spPr>
          <a:xfrm>
            <a:off x="4937760" y="20116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7EE8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TR/ACE LEVERERAR</a:t>
            </a:r>
            <a:endParaRPr lang="en-US" sz="90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20640" y="2423160"/>
            <a:ext cx="164592" cy="164592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5440680" y="23774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 använder standarder utan att märka det</a:t>
            </a:r>
            <a:endParaRPr lang="en-US" sz="1100" dirty="0"/>
          </a:p>
        </p:txBody>
      </p:sp>
      <p:pic>
        <p:nvPicPr>
          <p:cNvPr id="1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20640" y="2834640"/>
            <a:ext cx="164592" cy="164592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5440680" y="27889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Varje badge sprider SIS varumärke</a:t>
            </a:r>
            <a:endParaRPr lang="en-US" sz="1100" dirty="0"/>
          </a:p>
        </p:txBody>
      </p:sp>
      <p:pic>
        <p:nvPicPr>
          <p:cNvPr id="1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20640" y="3246120"/>
            <a:ext cx="164592" cy="164592"/>
          </a:xfrm>
          <a:prstGeom prst="rect">
            <a:avLst/>
          </a:prstGeom>
        </p:spPr>
      </p:pic>
      <p:sp>
        <p:nvSpPr>
          <p:cNvPr id="20" name="Text 11"/>
          <p:cNvSpPr/>
          <p:nvPr/>
        </p:nvSpPr>
        <p:spPr>
          <a:xfrm>
            <a:off x="5440680" y="32004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Perfekt Guide 17-pilot för Sverige</a:t>
            </a:r>
            <a:endParaRPr lang="en-US" sz="1100" dirty="0"/>
          </a:p>
        </p:txBody>
      </p:sp>
      <p:pic>
        <p:nvPicPr>
          <p:cNvPr id="2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20640" y="3657600"/>
            <a:ext cx="164592" cy="164592"/>
          </a:xfrm>
          <a:prstGeom prst="rect">
            <a:avLst/>
          </a:prstGeom>
        </p:spPr>
      </p:pic>
      <p:sp>
        <p:nvSpPr>
          <p:cNvPr id="22" name="Text 12"/>
          <p:cNvSpPr/>
          <p:nvPr/>
        </p:nvSpPr>
        <p:spPr>
          <a:xfrm>
            <a:off x="5440680" y="36118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Konkret action plan redo nu</a:t>
            </a:r>
            <a:endParaRPr lang="en-US" sz="1100" dirty="0"/>
          </a:p>
        </p:txBody>
      </p:sp>
      <p:sp>
        <p:nvSpPr>
          <p:cNvPr id="23" name="Shape 13"/>
          <p:cNvSpPr/>
          <p:nvPr/>
        </p:nvSpPr>
        <p:spPr>
          <a:xfrm>
            <a:off x="731520" y="4023360"/>
            <a:ext cx="7680960" cy="64008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4" name="Shape 14"/>
          <p:cNvSpPr/>
          <p:nvPr/>
        </p:nvSpPr>
        <p:spPr>
          <a:xfrm>
            <a:off x="731520" y="4023360"/>
            <a:ext cx="45720" cy="640080"/>
          </a:xfrm>
          <a:prstGeom prst="rect">
            <a:avLst/>
          </a:prstGeom>
          <a:solidFill>
            <a:srgbClr val="F32735"/>
          </a:solidFill>
          <a:ln/>
        </p:spPr>
      </p:sp>
      <p:sp>
        <p:nvSpPr>
          <p:cNvPr id="25" name="Text 15"/>
          <p:cNvSpPr/>
          <p:nvPr/>
        </p:nvSpPr>
        <p:spPr>
          <a:xfrm>
            <a:off x="1005840" y="406908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i="1" dirty="0">
                <a:solidFill>
                  <a:srgbClr val="CBD5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"SIS går från att sälja standarder till att göra standarder användbara.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i="1" dirty="0">
                <a:solidFill>
                  <a:srgbClr val="CBD5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Varje hållbarhetsbevis som delas är SIS-varumärket i aktion."</a:t>
            </a:r>
            <a:endParaRPr lang="en-US" sz="1100" dirty="0"/>
          </a:p>
        </p:txBody>
      </p:sp>
      <p:sp>
        <p:nvSpPr>
          <p:cNvPr id="26" name="Shape 16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27" name="Text 17"/>
          <p:cNvSpPr/>
          <p:nvPr/>
        </p:nvSpPr>
        <p:spPr>
          <a:xfrm>
            <a:off x="457200" y="4846320"/>
            <a:ext cx="45720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</a:t>
            </a:r>
            <a:pPr indent="0" marL="0">
              <a:buNone/>
            </a:pPr>
            <a:r>
              <a:rPr lang="en-US" sz="800" i="1" dirty="0">
                <a:solidFill>
                  <a:srgbClr val="F3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</a:t>
            </a:r>
            <a:pPr indent="0" marL="0">
              <a:buNone/>
            </a:pPr>
            <a:r>
              <a:rPr lang="en-US" sz="8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</a:t>
            </a:r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Surprise Systems × SIS</a:t>
            </a:r>
            <a:endParaRPr lang="en-US" sz="800" dirty="0"/>
          </a:p>
        </p:txBody>
      </p:sp>
      <p:sp>
        <p:nvSpPr>
          <p:cNvPr id="28" name="Text 18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10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808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32735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F3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AFFÄRSMODELL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8229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Freemium som driver spridning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31520" y="1645920"/>
            <a:ext cx="1874520" cy="27432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1645920"/>
            <a:ext cx="1874520" cy="36576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82880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GRATIS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68680" y="219456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 kr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68680" y="2743200"/>
            <a:ext cx="1600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produkt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Grundläggande resultat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 export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88920" y="1645920"/>
            <a:ext cx="1874520" cy="27432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1" name="Shape 9"/>
          <p:cNvSpPr/>
          <p:nvPr/>
        </p:nvSpPr>
        <p:spPr>
          <a:xfrm>
            <a:off x="2788920" y="1645920"/>
            <a:ext cx="1874520" cy="36576"/>
          </a:xfrm>
          <a:prstGeom prst="rect">
            <a:avLst/>
          </a:prstGeom>
          <a:solidFill>
            <a:srgbClr val="E8D48B"/>
          </a:solidFill>
          <a:ln/>
        </p:spPr>
      </p:sp>
      <p:sp>
        <p:nvSpPr>
          <p:cNvPr id="12" name="Text 10"/>
          <p:cNvSpPr/>
          <p:nvPr/>
        </p:nvSpPr>
        <p:spPr>
          <a:xfrm>
            <a:off x="2926080" y="182880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E8D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STARTER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926080" y="219456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500 kr/mån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926080" y="2743200"/>
            <a:ext cx="1600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produkter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PDF-export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Hållbarhetsbevis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846320" y="1645920"/>
            <a:ext cx="1874520" cy="274320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16" name="Shape 14"/>
          <p:cNvSpPr/>
          <p:nvPr/>
        </p:nvSpPr>
        <p:spPr>
          <a:xfrm>
            <a:off x="4846320" y="1645920"/>
            <a:ext cx="1874520" cy="36576"/>
          </a:xfrm>
          <a:prstGeom prst="rect">
            <a:avLst/>
          </a:prstGeom>
          <a:solidFill>
            <a:srgbClr val="F32735"/>
          </a:solidFill>
          <a:ln/>
        </p:spPr>
      </p:sp>
      <p:sp>
        <p:nvSpPr>
          <p:cNvPr id="17" name="Shape 15"/>
          <p:cNvSpPr/>
          <p:nvPr/>
        </p:nvSpPr>
        <p:spPr>
          <a:xfrm>
            <a:off x="4846320" y="1645920"/>
            <a:ext cx="1874520" cy="2743200"/>
          </a:xfrm>
          <a:prstGeom prst="rect">
            <a:avLst/>
          </a:prstGeom>
          <a:noFill/>
          <a:ln w="12700">
            <a:solidFill>
              <a:srgbClr val="F3273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83480" y="182880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F3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983480" y="219456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2 000 kr/mån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4983480" y="2743200"/>
            <a:ext cx="1600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Obegränsat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AI-rekommendationer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+ support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903720" y="1645920"/>
            <a:ext cx="1874520" cy="27432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2" name="Shape 20"/>
          <p:cNvSpPr/>
          <p:nvPr/>
        </p:nvSpPr>
        <p:spPr>
          <a:xfrm>
            <a:off x="6903720" y="1645920"/>
            <a:ext cx="1874520" cy="36576"/>
          </a:xfrm>
          <a:prstGeom prst="rect">
            <a:avLst/>
          </a:prstGeom>
          <a:solidFill>
            <a:srgbClr val="7EE8A2"/>
          </a:solidFill>
          <a:ln/>
        </p:spPr>
      </p:sp>
      <p:sp>
        <p:nvSpPr>
          <p:cNvPr id="23" name="Text 21"/>
          <p:cNvSpPr/>
          <p:nvPr/>
        </p:nvSpPr>
        <p:spPr>
          <a:xfrm>
            <a:off x="7040880" y="182880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7EE8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040880" y="219456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Offert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7040880" y="2743200"/>
            <a:ext cx="1600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Multi-site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Integrationer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Dedikerad kontakt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27" name="Text 25"/>
          <p:cNvSpPr/>
          <p:nvPr/>
        </p:nvSpPr>
        <p:spPr>
          <a:xfrm>
            <a:off x="457200" y="4846320"/>
            <a:ext cx="45720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</a:t>
            </a:r>
            <a:pPr indent="0" marL="0">
              <a:buNone/>
            </a:pPr>
            <a:r>
              <a:rPr lang="en-US" sz="800" i="1" dirty="0">
                <a:solidFill>
                  <a:srgbClr val="F3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</a:t>
            </a:r>
            <a:pPr indent="0" marL="0">
              <a:buNone/>
            </a:pPr>
            <a:r>
              <a:rPr lang="en-US" sz="8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</a:t>
            </a:r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Surprise Systems × SIS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10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808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32735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F3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8229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Signal till produkt på 6 månader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31520" y="1965960"/>
            <a:ext cx="7680960" cy="18288"/>
          </a:xfrm>
          <a:prstGeom prst="rect">
            <a:avLst/>
          </a:prstGeom>
          <a:solidFill>
            <a:srgbClr val="272727"/>
          </a:solidFill>
          <a:ln/>
        </p:spPr>
      </p:sp>
      <p:sp>
        <p:nvSpPr>
          <p:cNvPr id="6" name="Shape 4"/>
          <p:cNvSpPr/>
          <p:nvPr/>
        </p:nvSpPr>
        <p:spPr>
          <a:xfrm>
            <a:off x="1828800" y="1874520"/>
            <a:ext cx="201168" cy="201168"/>
          </a:xfrm>
          <a:prstGeom prst="oval">
            <a:avLst/>
          </a:prstGeom>
          <a:solidFill>
            <a:srgbClr val="F32735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0" y="2377440"/>
            <a:ext cx="2651760" cy="22860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8" name="Shape 6"/>
          <p:cNvSpPr/>
          <p:nvPr/>
        </p:nvSpPr>
        <p:spPr>
          <a:xfrm>
            <a:off x="731520" y="2377440"/>
            <a:ext cx="2651760" cy="36576"/>
          </a:xfrm>
          <a:prstGeom prst="rect">
            <a:avLst/>
          </a:prstGeom>
          <a:solidFill>
            <a:srgbClr val="F32735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25603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F3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MÅN 1–2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914400" y="28346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BYGG KLART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14400" y="3200400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branschmallar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PDF-export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Mobilanpassning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Freemium-logik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63440" y="1874520"/>
            <a:ext cx="201168" cy="201168"/>
          </a:xfrm>
          <a:prstGeom prst="oval">
            <a:avLst/>
          </a:prstGeom>
          <a:solidFill>
            <a:srgbClr val="E8D48B"/>
          </a:solidFill>
          <a:ln/>
        </p:spPr>
      </p:sp>
      <p:sp>
        <p:nvSpPr>
          <p:cNvPr id="13" name="Shape 11"/>
          <p:cNvSpPr/>
          <p:nvPr/>
        </p:nvSpPr>
        <p:spPr>
          <a:xfrm>
            <a:off x="3566160" y="2377440"/>
            <a:ext cx="2651760" cy="22860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4" name="Shape 12"/>
          <p:cNvSpPr/>
          <p:nvPr/>
        </p:nvSpPr>
        <p:spPr>
          <a:xfrm>
            <a:off x="3566160" y="2377440"/>
            <a:ext cx="2651760" cy="36576"/>
          </a:xfrm>
          <a:prstGeom prst="rect">
            <a:avLst/>
          </a:prstGeom>
          <a:solidFill>
            <a:srgbClr val="E8D48B"/>
          </a:solidFill>
          <a:ln/>
        </p:spPr>
      </p:sp>
      <p:sp>
        <p:nvSpPr>
          <p:cNvPr id="15" name="Text 13"/>
          <p:cNvSpPr/>
          <p:nvPr/>
        </p:nvSpPr>
        <p:spPr>
          <a:xfrm>
            <a:off x="3749040" y="25603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E8D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MÅN 3–4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749040" y="28346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PILOTER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749040" y="3200400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10–15 SME via TMF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Livsmedelsföretagen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Dokumentera business cases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Iterera på feedback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498080" y="1874520"/>
            <a:ext cx="201168" cy="201168"/>
          </a:xfrm>
          <a:prstGeom prst="oval">
            <a:avLst/>
          </a:prstGeom>
          <a:solidFill>
            <a:srgbClr val="7EE8A2"/>
          </a:solidFill>
          <a:ln/>
        </p:spPr>
      </p:sp>
      <p:sp>
        <p:nvSpPr>
          <p:cNvPr id="19" name="Shape 17"/>
          <p:cNvSpPr/>
          <p:nvPr/>
        </p:nvSpPr>
        <p:spPr>
          <a:xfrm>
            <a:off x="6400800" y="2377440"/>
            <a:ext cx="2651760" cy="22860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0" name="Shape 18"/>
          <p:cNvSpPr/>
          <p:nvPr/>
        </p:nvSpPr>
        <p:spPr>
          <a:xfrm>
            <a:off x="6400800" y="2377440"/>
            <a:ext cx="2651760" cy="36576"/>
          </a:xfrm>
          <a:prstGeom prst="rect">
            <a:avLst/>
          </a:prstGeom>
          <a:solidFill>
            <a:srgbClr val="7EE8A2"/>
          </a:solidFill>
          <a:ln/>
        </p:spPr>
      </p:sp>
      <p:sp>
        <p:nvSpPr>
          <p:cNvPr id="21" name="Text 19"/>
          <p:cNvSpPr/>
          <p:nvPr/>
        </p:nvSpPr>
        <p:spPr>
          <a:xfrm>
            <a:off x="6583680" y="25603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7EE8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MÅN 5–6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583680" y="28346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LANSERING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583680" y="3200400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Meeting Standards nov 2026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Live-demo på scen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Öppen freemium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CEN/CENELEC-rapport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4846320"/>
            <a:ext cx="45720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</a:t>
            </a:r>
            <a:pPr indent="0" marL="0">
              <a:buNone/>
            </a:pPr>
            <a:r>
              <a:rPr lang="en-US" sz="800" i="1" dirty="0">
                <a:solidFill>
                  <a:srgbClr val="F3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</a:t>
            </a:r>
            <a:pPr indent="0" marL="0">
              <a:buNone/>
            </a:pPr>
            <a:r>
              <a:rPr lang="en-US" sz="8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</a:t>
            </a:r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Surprise Systems × SIS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10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808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32735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F3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8229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1 000 000 kr — total investering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31520" y="1645920"/>
            <a:ext cx="7680960" cy="41148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6916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0" y="16916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BELOPP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858000" y="16916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31520" y="2148840"/>
            <a:ext cx="7680960" cy="9144"/>
          </a:xfrm>
          <a:prstGeom prst="rect">
            <a:avLst/>
          </a:prstGeom>
          <a:solidFill>
            <a:srgbClr val="272727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222199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 1: Prototyp + validering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0" y="222199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200 000 kr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858000" y="222199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7EE8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INVESTERAT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731520" y="2651760"/>
            <a:ext cx="7680960" cy="9144"/>
          </a:xfrm>
          <a:prstGeom prst="rect">
            <a:avLst/>
          </a:prstGeom>
          <a:solidFill>
            <a:srgbClr val="272727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272491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 2: Produktutveckling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29200" y="272491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400 000 kr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858000" y="272491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F3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ÄSKAS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731520" y="3154680"/>
            <a:ext cx="7680960" cy="9144"/>
          </a:xfrm>
          <a:prstGeom prst="rect">
            <a:avLst/>
          </a:prstGeom>
          <a:solidFill>
            <a:srgbClr val="272727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322783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 3: Piloter + lansering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029200" y="322783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250 000 kr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858000" y="322783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F3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ÄSKAS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731520" y="3657600"/>
            <a:ext cx="7680960" cy="9144"/>
          </a:xfrm>
          <a:prstGeom prst="rect">
            <a:avLst/>
          </a:prstGeom>
          <a:solidFill>
            <a:srgbClr val="272727"/>
          </a:solidFill>
          <a:ln/>
        </p:spPr>
      </p:sp>
      <p:sp>
        <p:nvSpPr>
          <p:cNvPr id="22" name="Text 20"/>
          <p:cNvSpPr/>
          <p:nvPr/>
        </p:nvSpPr>
        <p:spPr>
          <a:xfrm>
            <a:off x="914400" y="373075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 4: Drift + support (6 mån)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029200" y="373075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150 000 kr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858000" y="373075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F3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ÄSKAS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731520" y="4160520"/>
            <a:ext cx="7680960" cy="18288"/>
          </a:xfrm>
          <a:prstGeom prst="rect">
            <a:avLst/>
          </a:prstGeom>
          <a:solidFill>
            <a:srgbClr val="F32735"/>
          </a:solidFill>
          <a:ln/>
        </p:spPr>
      </p:sp>
      <p:sp>
        <p:nvSpPr>
          <p:cNvPr id="26" name="Text 24"/>
          <p:cNvSpPr/>
          <p:nvPr/>
        </p:nvSpPr>
        <p:spPr>
          <a:xfrm>
            <a:off x="914400" y="42519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3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TOTALT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029200" y="42519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327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1 000 000 kr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858000" y="42062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200k klart</a:t>
            </a:r>
            <a:endParaRPr lang="en-US" sz="900" dirty="0"/>
          </a:p>
          <a:p>
            <a:pPr algn="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800k äskas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30" name="Text 28"/>
          <p:cNvSpPr/>
          <p:nvPr/>
        </p:nvSpPr>
        <p:spPr>
          <a:xfrm>
            <a:off x="457200" y="4846320"/>
            <a:ext cx="45720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</a:t>
            </a:r>
            <a:pPr indent="0" marL="0">
              <a:buNone/>
            </a:pPr>
            <a:r>
              <a:rPr lang="en-US" sz="800" i="1" dirty="0">
                <a:solidFill>
                  <a:srgbClr val="F3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</a:t>
            </a:r>
            <a:pPr indent="0" marL="0">
              <a:buNone/>
            </a:pPr>
            <a:r>
              <a:rPr lang="en-US" sz="8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</a:t>
            </a:r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Surprise Systems × SIS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10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808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32735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F3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FÖR SIS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8229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Vad får SIS för 1 miljon?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31520" y="1645920"/>
            <a:ext cx="2651760" cy="256032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1645920"/>
            <a:ext cx="2651760" cy="36576"/>
          </a:xfrm>
          <a:prstGeom prst="rect">
            <a:avLst/>
          </a:prstGeom>
          <a:solidFill>
            <a:srgbClr val="F32735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828800"/>
            <a:ext cx="320040" cy="320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22860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327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100+</a:t>
            </a:r>
            <a:endParaRPr lang="en-US" sz="3200" dirty="0"/>
          </a:p>
        </p:txBody>
      </p:sp>
      <p:sp>
        <p:nvSpPr>
          <p:cNvPr id="9" name="Text 6"/>
          <p:cNvSpPr/>
          <p:nvPr/>
        </p:nvSpPr>
        <p:spPr>
          <a:xfrm>
            <a:off x="914400" y="28346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SME-användare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914400" y="320040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Första året genom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branschorganisationer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566160" y="1645920"/>
            <a:ext cx="2651760" cy="256032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2" name="Shape 9"/>
          <p:cNvSpPr/>
          <p:nvPr/>
        </p:nvSpPr>
        <p:spPr>
          <a:xfrm>
            <a:off x="3566160" y="1645920"/>
            <a:ext cx="2651760" cy="36576"/>
          </a:xfrm>
          <a:prstGeom prst="rect">
            <a:avLst/>
          </a:prstGeom>
          <a:solidFill>
            <a:srgbClr val="E8D48B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40" y="1828800"/>
            <a:ext cx="320040" cy="32004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749040" y="22860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E8D48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1:a</a:t>
            </a:r>
            <a:endParaRPr lang="en-US" sz="3200" dirty="0"/>
          </a:p>
        </p:txBody>
      </p:sp>
      <p:sp>
        <p:nvSpPr>
          <p:cNvPr id="15" name="Text 11"/>
          <p:cNvSpPr/>
          <p:nvPr/>
        </p:nvSpPr>
        <p:spPr>
          <a:xfrm>
            <a:off x="3749040" y="28346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 17-piloten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3749040" y="320040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Sveriges konkreta bidrag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till CEN/CENELEC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6400800" y="1645920"/>
            <a:ext cx="2651760" cy="256032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8" name="Shape 14"/>
          <p:cNvSpPr/>
          <p:nvPr/>
        </p:nvSpPr>
        <p:spPr>
          <a:xfrm>
            <a:off x="6400800" y="1645920"/>
            <a:ext cx="2651760" cy="36576"/>
          </a:xfrm>
          <a:prstGeom prst="rect">
            <a:avLst/>
          </a:prstGeom>
          <a:solidFill>
            <a:srgbClr val="7EE8A2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1828800"/>
            <a:ext cx="320040" cy="32004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583680" y="22860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7EE8A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Viral</a:t>
            </a:r>
            <a:endParaRPr lang="en-US" sz="3200" dirty="0"/>
          </a:p>
        </p:txBody>
      </p:sp>
      <p:sp>
        <p:nvSpPr>
          <p:cNvPr id="21" name="Text 16"/>
          <p:cNvSpPr/>
          <p:nvPr/>
        </p:nvSpPr>
        <p:spPr>
          <a:xfrm>
            <a:off x="6583680" y="28346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Varumärkesspridning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6583680" y="320040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Varje badge i en offert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sprider SIS logotyp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24" name="Text 19"/>
          <p:cNvSpPr/>
          <p:nvPr/>
        </p:nvSpPr>
        <p:spPr>
          <a:xfrm>
            <a:off x="457200" y="4846320"/>
            <a:ext cx="45720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</a:t>
            </a:r>
            <a:pPr indent="0" marL="0">
              <a:buNone/>
            </a:pPr>
            <a:r>
              <a:rPr lang="en-US" sz="800" i="1" dirty="0">
                <a:solidFill>
                  <a:srgbClr val="F3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</a:t>
            </a:r>
            <a:pPr indent="0" marL="0">
              <a:buNone/>
            </a:pPr>
            <a:r>
              <a:rPr lang="en-US" sz="8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</a:t>
            </a:r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Surprise Systems × SIS</a:t>
            </a:r>
            <a:endParaRPr lang="en-US" sz="800" dirty="0"/>
          </a:p>
        </p:txBody>
      </p:sp>
      <p:sp>
        <p:nvSpPr>
          <p:cNvPr id="25" name="Text 20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10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808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32735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9144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F3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NÄSTA STEG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7315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3200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800 000 kr.</a:t>
            </a:r>
            <a:endParaRPr lang="en-US" sz="3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3200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 månader.</a:t>
            </a:r>
            <a:endParaRPr lang="en-US" sz="3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3200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Sveriges första screening-LCA</a:t>
            </a:r>
            <a:endParaRPr lang="en-US" sz="3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3200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för SME.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31520" y="3657600"/>
            <a:ext cx="7680960" cy="18288"/>
          </a:xfrm>
          <a:prstGeom prst="rect">
            <a:avLst/>
          </a:prstGeom>
          <a:solidFill>
            <a:srgbClr val="272727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384048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David Svensson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Surprise Systems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F3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david@surpriseventures.io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43600" y="3840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600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</a:t>
            </a:r>
            <a:pPr algn="r" indent="0" marL="0">
              <a:buNone/>
            </a:pPr>
            <a:r>
              <a:rPr lang="en-US" sz="3600" i="1" dirty="0">
                <a:solidFill>
                  <a:srgbClr val="F327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/</a:t>
            </a:r>
            <a:pPr algn="r" indent="0" marL="0">
              <a:buNone/>
            </a:pPr>
            <a:r>
              <a:rPr lang="en-US" sz="3600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ACE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10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TR/ACE — Screening-LCA för svenska tillverkare</dc:title>
  <dc:subject>PptxGenJS Presentation</dc:subject>
  <dc:creator>Surprise Systems</dc:creator>
  <cp:lastModifiedBy>Surprise Systems</cp:lastModifiedBy>
  <cp:revision>1</cp:revision>
  <dcterms:created xsi:type="dcterms:W3CDTF">2026-02-26T10:29:11Z</dcterms:created>
  <dcterms:modified xsi:type="dcterms:W3CDTF">2026-02-26T10:29:11Z</dcterms:modified>
</cp:coreProperties>
</file>